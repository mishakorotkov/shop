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9" r:id="rId4"/>
    <p:sldId id="274" r:id="rId5"/>
    <p:sldId id="275" r:id="rId6"/>
    <p:sldId id="286" r:id="rId7"/>
    <p:sldId id="287" r:id="rId8"/>
    <p:sldId id="273" r:id="rId9"/>
    <p:sldId id="279" r:id="rId10"/>
    <p:sldId id="280" r:id="rId11"/>
    <p:sldId id="281" r:id="rId12"/>
    <p:sldId id="276" r:id="rId13"/>
    <p:sldId id="277" r:id="rId14"/>
    <p:sldId id="278" r:id="rId15"/>
    <p:sldId id="282" r:id="rId16"/>
    <p:sldId id="289" r:id="rId17"/>
    <p:sldId id="283" r:id="rId18"/>
    <p:sldId id="284" r:id="rId19"/>
    <p:sldId id="290" r:id="rId20"/>
    <p:sldId id="285" r:id="rId21"/>
    <p:sldId id="291" r:id="rId22"/>
    <p:sldId id="288" r:id="rId23"/>
    <p:sldId id="292" r:id="rId24"/>
    <p:sldId id="293" r:id="rId25"/>
    <p:sldId id="260" r:id="rId26"/>
    <p:sldId id="261" r:id="rId27"/>
    <p:sldId id="27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3584" autoAdjust="0"/>
    <p:restoredTop sz="94660"/>
  </p:normalViewPr>
  <p:slideViewPr>
    <p:cSldViewPr snapToGrid="0">
      <p:cViewPr varScale="1">
        <p:scale>
          <a:sx n="88" d="100"/>
          <a:sy n="88" d="100"/>
        </p:scale>
        <p:origin x="-533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5C15D-DB92-4114-B154-DE9B6EE3F6A7}" type="datetimeFigureOut">
              <a:rPr lang="ru-RU" smtClean="0"/>
              <a:pPr/>
              <a:t>26.01.2024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78196D2-BD43-4466-81A0-A4B96FD041E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204123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5C15D-DB92-4114-B154-DE9B6EE3F6A7}" type="datetimeFigureOut">
              <a:rPr lang="ru-RU" smtClean="0"/>
              <a:pPr/>
              <a:t>26.01.2024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196D2-BD43-4466-81A0-A4B96FD041E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90494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5C15D-DB92-4114-B154-DE9B6EE3F6A7}" type="datetimeFigureOut">
              <a:rPr lang="ru-RU" smtClean="0"/>
              <a:pPr/>
              <a:t>26.01.2024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78196D2-BD43-4466-81A0-A4B96FD041E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96091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5C15D-DB92-4114-B154-DE9B6EE3F6A7}" type="datetimeFigureOut">
              <a:rPr lang="ru-RU" smtClean="0"/>
              <a:pPr/>
              <a:t>26.01.2024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78196D2-BD43-4466-81A0-A4B96FD041E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24700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5C15D-DB92-4114-B154-DE9B6EE3F6A7}" type="datetimeFigureOut">
              <a:rPr lang="ru-RU" smtClean="0"/>
              <a:pPr/>
              <a:t>26.01.2024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78196D2-BD43-4466-81A0-A4B96FD041E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33869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5C15D-DB92-4114-B154-DE9B6EE3F6A7}" type="datetimeFigureOut">
              <a:rPr lang="ru-RU" smtClean="0"/>
              <a:pPr/>
              <a:t>26.01.2024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196D2-BD43-4466-81A0-A4B96FD041E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7818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5C15D-DB92-4114-B154-DE9B6EE3F6A7}" type="datetimeFigureOut">
              <a:rPr lang="ru-RU" smtClean="0"/>
              <a:pPr/>
              <a:t>26.01.2024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196D2-BD43-4466-81A0-A4B96FD041E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448552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5C15D-DB92-4114-B154-DE9B6EE3F6A7}" type="datetimeFigureOut">
              <a:rPr lang="ru-RU" smtClean="0"/>
              <a:pPr/>
              <a:t>26.01.2024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196D2-BD43-4466-81A0-A4B96FD041E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41749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5C15D-DB92-4114-B154-DE9B6EE3F6A7}" type="datetimeFigureOut">
              <a:rPr lang="ru-RU" smtClean="0"/>
              <a:pPr/>
              <a:t>26.01.2024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78196D2-BD43-4466-81A0-A4B96FD041E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54571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5C15D-DB92-4114-B154-DE9B6EE3F6A7}" type="datetimeFigureOut">
              <a:rPr lang="ru-RU" smtClean="0"/>
              <a:pPr/>
              <a:t>26.01.2024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78196D2-BD43-4466-81A0-A4B96FD041E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10562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5C15D-DB92-4114-B154-DE9B6EE3F6A7}" type="datetimeFigureOut">
              <a:rPr lang="ru-RU" smtClean="0"/>
              <a:pPr/>
              <a:t>26.01.2024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78196D2-BD43-4466-81A0-A4B96FD041E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1988592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5C15D-DB92-4114-B154-DE9B6EE3F6A7}" type="datetimeFigureOut">
              <a:rPr lang="ru-RU" smtClean="0"/>
              <a:pPr/>
              <a:t>26.01.2024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78196D2-BD43-4466-81A0-A4B96FD041E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5382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5C15D-DB92-4114-B154-DE9B6EE3F6A7}" type="datetimeFigureOut">
              <a:rPr lang="ru-RU" smtClean="0"/>
              <a:pPr/>
              <a:t>26.01.2024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78196D2-BD43-4466-81A0-A4B96FD041E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11633433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5C15D-DB92-4114-B154-DE9B6EE3F6A7}" type="datetimeFigureOut">
              <a:rPr lang="ru-RU" smtClean="0"/>
              <a:pPr/>
              <a:t>26.01.2024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78196D2-BD43-4466-81A0-A4B96FD041E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122467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5C15D-DB92-4114-B154-DE9B6EE3F6A7}" type="datetimeFigureOut">
              <a:rPr lang="ru-RU" smtClean="0"/>
              <a:pPr/>
              <a:t>26.01.2024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196D2-BD43-4466-81A0-A4B96FD041E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271564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5C15D-DB92-4114-B154-DE9B6EE3F6A7}" type="datetimeFigureOut">
              <a:rPr lang="ru-RU" smtClean="0"/>
              <a:pPr/>
              <a:t>26.01.2024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196D2-BD43-4466-81A0-A4B96FD041E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01179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5C15D-DB92-4114-B154-DE9B6EE3F6A7}" type="datetimeFigureOut">
              <a:rPr lang="ru-RU" smtClean="0"/>
              <a:pPr/>
              <a:t>26.01.2024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78196D2-BD43-4466-81A0-A4B96FD041E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718147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sql-academy.org/ru" TargetMode="External"/><Relationship Id="rId2" Type="http://schemas.openxmlformats.org/officeDocument/2006/relationships/hyperlink" Target="https://code.mu/ru/javascript/nodejs/book/expres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ozilla.github.io/nunjucks/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D1FF65F-3089-47EA-9702-A68AD0DFE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79344" y="2039855"/>
            <a:ext cx="2797834" cy="370719"/>
          </a:xfrm>
        </p:spPr>
        <p:txBody>
          <a:bodyPr>
            <a:normAutofit/>
          </a:bodyPr>
          <a:lstStyle/>
          <a:p>
            <a:r>
              <a:rPr lang="ru-RU" sz="1800" b="1" dirty="0" smtClean="0"/>
              <a:t>ДИПЛОМНАЯ РАБОТА 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DC09F592-EDC9-4254-801B-B69401E62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89058" y="4807476"/>
            <a:ext cx="2193984" cy="1291399"/>
          </a:xfrm>
        </p:spPr>
        <p:txBody>
          <a:bodyPr>
            <a:normAutofit fontScale="85000" lnSpcReduction="10000"/>
          </a:bodyPr>
          <a:lstStyle/>
          <a:p>
            <a:pPr lvl="0" algn="r" defTabSz="91440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zh-CN" sz="2000" dirty="0" smtClean="0">
                <a:cs typeface="Arial" pitchFamily="34" charset="0"/>
              </a:rPr>
              <a:t>Работу выполнил: </a:t>
            </a:r>
          </a:p>
          <a:p>
            <a:pPr lvl="0" algn="r" defTabSz="91440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zh-CN" sz="2000" dirty="0" smtClean="0">
                <a:cs typeface="Arial" pitchFamily="34" charset="0"/>
              </a:rPr>
              <a:t>Коротков Михаил Романович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/>
              <a:t>Проверил:</a:t>
            </a:r>
            <a:br>
              <a:rPr lang="ru-RU" sz="2000" dirty="0" smtClean="0"/>
            </a:br>
            <a:r>
              <a:rPr lang="ru-RU" sz="2000" dirty="0" smtClean="0"/>
              <a:t>Старков А.В.</a:t>
            </a:r>
            <a:endParaRPr lang="ru-RU" altLang="zh-CN" sz="2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C8C366D-1B79-44DF-802B-BD0335920EA5}"/>
              </a:ext>
            </a:extLst>
          </p:cNvPr>
          <p:cNvSpPr txBox="1"/>
          <p:nvPr/>
        </p:nvSpPr>
        <p:spPr>
          <a:xfrm>
            <a:off x="3048000" y="5296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НОВОСИБИРСКАЯ АКАДЕМИЯ ДИЗАЙНА И ПРОГРАММИРОВАНИЯ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151516" y="286429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dirty="0" smtClean="0"/>
              <a:t>по специальности «Программирование»</a:t>
            </a:r>
          </a:p>
          <a:p>
            <a:pPr algn="ctr"/>
            <a:r>
              <a:rPr lang="ru-RU" b="1" dirty="0" smtClean="0"/>
              <a:t>Тема: </a:t>
            </a:r>
            <a:r>
              <a:rPr lang="ru-RU" dirty="0" smtClean="0"/>
              <a:t>Создание </a:t>
            </a:r>
            <a:r>
              <a:rPr lang="en-US" dirty="0" smtClean="0"/>
              <a:t>CMS </a:t>
            </a:r>
            <a:r>
              <a:rPr lang="ru-RU" dirty="0" smtClean="0"/>
              <a:t>и </a:t>
            </a:r>
            <a:r>
              <a:rPr lang="en-US" dirty="0" smtClean="0"/>
              <a:t>API </a:t>
            </a:r>
            <a:r>
              <a:rPr lang="ru-RU" dirty="0" smtClean="0"/>
              <a:t>для магазина обуви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554733" y="5961655"/>
            <a:ext cx="697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2023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62982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BAA3971-B147-466C-A2A6-B3C7EDD10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Оглавление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6F27ADB-8868-497F-9573-BC12F1A13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2800" dirty="0" smtClean="0"/>
              <a:t>1.Оглавление</a:t>
            </a:r>
          </a:p>
          <a:p>
            <a:pPr marL="0" indent="0">
              <a:buNone/>
            </a:pPr>
            <a:r>
              <a:rPr lang="ru-RU" sz="2800" dirty="0" smtClean="0"/>
              <a:t>2.Введение</a:t>
            </a:r>
          </a:p>
          <a:p>
            <a:pPr marL="0" indent="0">
              <a:buNone/>
            </a:pPr>
            <a:r>
              <a:rPr lang="ru-RU" sz="2800" dirty="0" smtClean="0"/>
              <a:t>3.Этапы </a:t>
            </a:r>
            <a:r>
              <a:rPr lang="ru-RU" sz="2800" dirty="0"/>
              <a:t>работы</a:t>
            </a:r>
          </a:p>
          <a:p>
            <a:pPr marL="0" indent="0">
              <a:buNone/>
            </a:pPr>
            <a:r>
              <a:rPr lang="ru-RU" sz="2800" dirty="0" smtClean="0"/>
              <a:t>4.Вывод</a:t>
            </a:r>
          </a:p>
          <a:p>
            <a:pPr marL="0" indent="0">
              <a:buNone/>
            </a:pPr>
            <a:r>
              <a:rPr lang="ru-RU" sz="2800" dirty="0" smtClean="0"/>
              <a:t>5.Список </a:t>
            </a:r>
            <a:r>
              <a:rPr lang="ru-RU" sz="2800" dirty="0"/>
              <a:t>литературы</a:t>
            </a:r>
          </a:p>
        </p:txBody>
      </p:sp>
    </p:spTree>
    <p:extLst>
      <p:ext uri="{BB962C8B-B14F-4D97-AF65-F5344CB8AC3E}">
        <p14:creationId xmlns:p14="http://schemas.microsoft.com/office/powerpoint/2010/main" xmlns="" val="2228473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43335" y="1652301"/>
            <a:ext cx="9893526" cy="45759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 smtClean="0"/>
              <a:t>Я выбрал этот проект, потому что хотел научиться использовать язык программирования </a:t>
            </a:r>
            <a:r>
              <a:rPr lang="en-US" sz="2000" b="1" dirty="0" smtClean="0"/>
              <a:t>Node.js</a:t>
            </a:r>
            <a:r>
              <a:rPr lang="en-US" sz="2000" dirty="0" smtClean="0"/>
              <a:t> </a:t>
            </a:r>
            <a:r>
              <a:rPr lang="ru-RU" sz="2000" dirty="0" smtClean="0"/>
              <a:t>и </a:t>
            </a:r>
            <a:r>
              <a:rPr lang="ru-RU" sz="2000" dirty="0" err="1" smtClean="0"/>
              <a:t>фреймворк</a:t>
            </a:r>
            <a:r>
              <a:rPr lang="ru-RU" sz="2000" dirty="0" smtClean="0"/>
              <a:t> </a:t>
            </a:r>
            <a:r>
              <a:rPr lang="en-US" sz="2000" b="1" dirty="0" smtClean="0"/>
              <a:t>Express</a:t>
            </a:r>
            <a:r>
              <a:rPr lang="ru-RU" sz="2000" dirty="0" smtClean="0"/>
              <a:t> для </a:t>
            </a:r>
            <a:r>
              <a:rPr lang="en-US" sz="2000" dirty="0" smtClean="0"/>
              <a:t>backend</a:t>
            </a:r>
            <a:r>
              <a:rPr lang="ru-RU" sz="2000" dirty="0" smtClean="0"/>
              <a:t> сервера, так как считаю этот язык и этот </a:t>
            </a:r>
            <a:r>
              <a:rPr lang="ru-RU" sz="2000" dirty="0" err="1" smtClean="0"/>
              <a:t>фреймворк</a:t>
            </a:r>
            <a:r>
              <a:rPr lang="ru-RU" sz="2000" dirty="0" smtClean="0"/>
              <a:t> наилучшими в использовании для данной работы. Также в этом проекте я работал не один, и поэтому это было хорошей практикой на работу в команде. Во время выполнения проекта я хотел научиться работать в паре, передавать данные между </a:t>
            </a:r>
            <a:r>
              <a:rPr lang="en-US" sz="2000" dirty="0" smtClean="0"/>
              <a:t>backend</a:t>
            </a:r>
            <a:r>
              <a:rPr lang="ru-RU" sz="2000" dirty="0" smtClean="0"/>
              <a:t> и </a:t>
            </a:r>
            <a:r>
              <a:rPr lang="en-US" sz="2000" dirty="0" smtClean="0"/>
              <a:t>frontend</a:t>
            </a:r>
            <a:r>
              <a:rPr lang="ru-RU" sz="2000" dirty="0" smtClean="0"/>
              <a:t> серверами, создать </a:t>
            </a:r>
            <a:r>
              <a:rPr lang="en-US" sz="2000" b="1" dirty="0" smtClean="0"/>
              <a:t>CMS</a:t>
            </a:r>
            <a:r>
              <a:rPr lang="en-US" sz="2000" dirty="0" smtClean="0"/>
              <a:t> </a:t>
            </a:r>
            <a:r>
              <a:rPr lang="ru-RU" sz="2000" dirty="0" smtClean="0"/>
              <a:t>и </a:t>
            </a:r>
            <a:r>
              <a:rPr lang="en-US" sz="2000" b="1" dirty="0" smtClean="0"/>
              <a:t>API</a:t>
            </a:r>
            <a:r>
              <a:rPr lang="ru-RU" sz="2000" dirty="0" smtClean="0"/>
              <a:t>. Должна получиться программа, написанная на языке </a:t>
            </a:r>
            <a:r>
              <a:rPr lang="en-US" sz="2000" b="1" dirty="0" smtClean="0"/>
              <a:t>Node.js</a:t>
            </a:r>
            <a:r>
              <a:rPr lang="ru-RU" sz="2000" dirty="0" smtClean="0"/>
              <a:t> используя </a:t>
            </a:r>
            <a:r>
              <a:rPr lang="ru-RU" sz="2000" dirty="0" err="1" smtClean="0"/>
              <a:t>фреймворк</a:t>
            </a:r>
            <a:r>
              <a:rPr lang="ru-RU" sz="2000" dirty="0" smtClean="0"/>
              <a:t> </a:t>
            </a:r>
            <a:r>
              <a:rPr lang="en-US" sz="2000" b="1" dirty="0" smtClean="0"/>
              <a:t>express</a:t>
            </a:r>
            <a:r>
              <a:rPr lang="ru-RU" sz="2000" dirty="0" smtClean="0"/>
              <a:t>, базу данных </a:t>
            </a:r>
            <a:r>
              <a:rPr lang="en-US" sz="2000" b="1" dirty="0" err="1" smtClean="0"/>
              <a:t>mysql</a:t>
            </a:r>
            <a:r>
              <a:rPr lang="ru-RU" sz="2000" dirty="0" smtClean="0"/>
              <a:t>, </a:t>
            </a:r>
            <a:r>
              <a:rPr lang="ru-RU" sz="2000" dirty="0" err="1" smtClean="0"/>
              <a:t>шаблонизатор</a:t>
            </a:r>
            <a:r>
              <a:rPr lang="ru-RU" sz="2000" dirty="0" smtClean="0"/>
              <a:t> </a:t>
            </a:r>
            <a:r>
              <a:rPr lang="en-US" sz="2000" b="1" dirty="0" err="1" smtClean="0"/>
              <a:t>Nunjucks</a:t>
            </a:r>
            <a:r>
              <a:rPr lang="en-US" sz="2000" dirty="0" smtClean="0"/>
              <a:t> </a:t>
            </a:r>
            <a:r>
              <a:rPr lang="ru-RU" sz="2000" dirty="0" smtClean="0"/>
              <a:t>и модули: </a:t>
            </a:r>
            <a:r>
              <a:rPr lang="en-US" sz="2000" dirty="0" err="1" smtClean="0"/>
              <a:t>mysql</a:t>
            </a:r>
            <a:r>
              <a:rPr lang="ru-RU" sz="2000" dirty="0" smtClean="0"/>
              <a:t>2, </a:t>
            </a:r>
            <a:r>
              <a:rPr lang="en-US" sz="2000" dirty="0" smtClean="0"/>
              <a:t>express</a:t>
            </a:r>
            <a:r>
              <a:rPr lang="ru-RU" sz="2000" dirty="0" smtClean="0"/>
              <a:t>-</a:t>
            </a:r>
            <a:r>
              <a:rPr lang="en-US" sz="2000" dirty="0" err="1" smtClean="0"/>
              <a:t>fileupload</a:t>
            </a:r>
            <a:r>
              <a:rPr lang="ru-RU" sz="2000" dirty="0" smtClean="0"/>
              <a:t>, </a:t>
            </a:r>
            <a:r>
              <a:rPr lang="en-US" sz="2000" dirty="0" err="1" smtClean="0"/>
              <a:t>cors</a:t>
            </a:r>
            <a:r>
              <a:rPr lang="ru-RU" sz="2000" dirty="0" smtClean="0"/>
              <a:t>. Создавая эту программу, я и мой напарник научились многому, углубили и закрепим свои знания и увеличим свои </a:t>
            </a:r>
            <a:r>
              <a:rPr lang="ru-RU" sz="2000" dirty="0" err="1" smtClean="0"/>
              <a:t>портфолио</a:t>
            </a:r>
            <a:r>
              <a:rPr lang="ru-RU" sz="2000" dirty="0" smtClean="0"/>
              <a:t>.</a:t>
            </a:r>
          </a:p>
          <a:p>
            <a:pPr marL="0" indent="0">
              <a:buNone/>
            </a:pPr>
            <a:r>
              <a:rPr lang="ru-RU" sz="2000" dirty="0" smtClean="0"/>
              <a:t>Суть работы заключается в обмене данными между двумя серверами, один из которых отвечает за связь с пользователем, а другой за базу данных. В моём случае я отвечаю за сервер с базой данных.</a:t>
            </a:r>
          </a:p>
          <a:p>
            <a:pPr marL="0" indent="0" algn="just">
              <a:buNone/>
            </a:pP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xmlns="" val="899033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89030"/>
          </a:xfrm>
        </p:spPr>
        <p:txBody>
          <a:bodyPr/>
          <a:lstStyle/>
          <a:p>
            <a:r>
              <a:rPr lang="ru-RU" dirty="0" smtClean="0"/>
              <a:t>Установка нужных компонентов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32012" y="1745412"/>
            <a:ext cx="8915400" cy="18776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Перед началом разработки кода я установил всё необходимое. А именно </a:t>
            </a:r>
            <a:r>
              <a:rPr lang="en-US" sz="2400" dirty="0" err="1" smtClean="0"/>
              <a:t>MySQL</a:t>
            </a:r>
            <a:r>
              <a:rPr lang="en-US" sz="2400" dirty="0" smtClean="0"/>
              <a:t> </a:t>
            </a:r>
            <a:r>
              <a:rPr lang="ru-RU" sz="2400" dirty="0" smtClean="0"/>
              <a:t>и </a:t>
            </a:r>
            <a:r>
              <a:rPr lang="en-US" sz="2400" dirty="0" smtClean="0"/>
              <a:t>Workbench, Node.js, </a:t>
            </a:r>
            <a:r>
              <a:rPr lang="ru-RU" sz="2400" dirty="0" smtClean="0"/>
              <a:t>модуль </a:t>
            </a:r>
            <a:r>
              <a:rPr lang="en-US" sz="2400" dirty="0" smtClean="0"/>
              <a:t>express, ш</a:t>
            </a:r>
            <a:r>
              <a:rPr lang="ru-RU" sz="2400" dirty="0" err="1" smtClean="0"/>
              <a:t>аблонизатор</a:t>
            </a:r>
            <a:r>
              <a:rPr lang="ru-RU" sz="2400" dirty="0" smtClean="0"/>
              <a:t> </a:t>
            </a:r>
            <a:r>
              <a:rPr lang="en-US" sz="2400" dirty="0" err="1" smtClean="0"/>
              <a:t>Nunjucks</a:t>
            </a:r>
            <a:r>
              <a:rPr lang="en-US" sz="2400" dirty="0" smtClean="0"/>
              <a:t> </a:t>
            </a:r>
            <a:r>
              <a:rPr lang="ru-RU" sz="2400" dirty="0" smtClean="0"/>
              <a:t>и любой редактор кода. В моём случае это </a:t>
            </a:r>
            <a:r>
              <a:rPr lang="en-US" sz="2400" dirty="0" smtClean="0"/>
              <a:t>VS Code.</a:t>
            </a:r>
            <a:endParaRPr lang="ru-RU" sz="2400" dirty="0" smtClean="0"/>
          </a:p>
          <a:p>
            <a:pPr marL="0" indent="0">
              <a:buNone/>
            </a:pPr>
            <a:endParaRPr lang="ru-RU" sz="2400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 b="14521"/>
          <a:stretch>
            <a:fillRect/>
          </a:stretch>
        </p:blipFill>
        <p:spPr bwMode="auto">
          <a:xfrm>
            <a:off x="2124435" y="3410839"/>
            <a:ext cx="4095750" cy="2537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Рисунок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44083" y="3374151"/>
            <a:ext cx="5421554" cy="2369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Какие компоненты отвечают за определённые функции программы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В нашей программе </a:t>
            </a:r>
            <a:r>
              <a:rPr lang="en-US" sz="2400" dirty="0" smtClean="0"/>
              <a:t>Node.js </a:t>
            </a:r>
            <a:r>
              <a:rPr lang="ru-RU" sz="2400" dirty="0" smtClean="0"/>
              <a:t>в купе с </a:t>
            </a:r>
            <a:r>
              <a:rPr lang="en-US" sz="2400" dirty="0" smtClean="0"/>
              <a:t>express </a:t>
            </a:r>
            <a:r>
              <a:rPr lang="ru-RU" sz="2400" dirty="0" smtClean="0"/>
              <a:t>является основой всего проекта, он работает как </a:t>
            </a:r>
            <a:r>
              <a:rPr lang="ru-RU" sz="2400" dirty="0" err="1" smtClean="0"/>
              <a:t>маршрутизатор</a:t>
            </a:r>
            <a:r>
              <a:rPr lang="ru-RU" sz="2400" dirty="0" smtClean="0"/>
              <a:t>, то есть совершает определённые действия при переходе по определённому адресу. </a:t>
            </a:r>
          </a:p>
          <a:p>
            <a:pPr marL="0" indent="0">
              <a:buNone/>
            </a:pPr>
            <a:r>
              <a:rPr lang="en-US" sz="2400" dirty="0" err="1" smtClean="0"/>
              <a:t>MySQL</a:t>
            </a:r>
            <a:r>
              <a:rPr lang="ru-RU" sz="2400" dirty="0" smtClean="0"/>
              <a:t> и</a:t>
            </a:r>
            <a:r>
              <a:rPr lang="en-US" sz="2400" dirty="0" smtClean="0"/>
              <a:t> Workbench</a:t>
            </a:r>
            <a:r>
              <a:rPr lang="ru-RU" sz="2400" dirty="0" smtClean="0"/>
              <a:t> отвечают за работу с базой данных, которая нужна для хранения данных о пользователях и товарах.</a:t>
            </a:r>
          </a:p>
          <a:p>
            <a:pPr marL="0" indent="0">
              <a:buNone/>
            </a:pPr>
            <a:r>
              <a:rPr lang="en-US" sz="2400" dirty="0" err="1" smtClean="0"/>
              <a:t>Nunjucks</a:t>
            </a:r>
            <a:r>
              <a:rPr lang="en-US" sz="2400" dirty="0" smtClean="0"/>
              <a:t> – </a:t>
            </a:r>
            <a:r>
              <a:rPr lang="ru-RU" sz="2400" dirty="0" err="1" smtClean="0"/>
              <a:t>шаблонизатор</a:t>
            </a:r>
            <a:r>
              <a:rPr lang="ru-RU" sz="2400" dirty="0" smtClean="0"/>
              <a:t>, отвечает за более удобную работу с </a:t>
            </a:r>
            <a:r>
              <a:rPr lang="en-US" sz="2400" dirty="0" smtClean="0"/>
              <a:t>html</a:t>
            </a:r>
            <a:r>
              <a:rPr lang="ru-RU" sz="2400" dirty="0" smtClean="0"/>
              <a:t> страницами.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Импорт библиотек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36166" y="1572883"/>
            <a:ext cx="7513607" cy="2550543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 smtClean="0"/>
              <a:t>В данном коде мы импортируем библиотеки нужные нам для работы с: базой данных, </a:t>
            </a:r>
            <a:r>
              <a:rPr lang="ru-RU" sz="2400" dirty="0" err="1" smtClean="0"/>
              <a:t>фреймворком</a:t>
            </a:r>
            <a:r>
              <a:rPr lang="ru-RU" sz="2400" dirty="0" smtClean="0"/>
              <a:t> </a:t>
            </a:r>
            <a:r>
              <a:rPr lang="en-US" sz="2400" dirty="0" smtClean="0"/>
              <a:t>express</a:t>
            </a:r>
            <a:r>
              <a:rPr lang="ru-RU" sz="2400" dirty="0" smtClean="0"/>
              <a:t>, </a:t>
            </a:r>
            <a:r>
              <a:rPr lang="ru-RU" sz="2400" dirty="0" err="1" smtClean="0"/>
              <a:t>шаблонизатором</a:t>
            </a:r>
            <a:r>
              <a:rPr lang="ru-RU" sz="2400" dirty="0" smtClean="0"/>
              <a:t> </a:t>
            </a:r>
            <a:r>
              <a:rPr lang="en-US" sz="2400" dirty="0" err="1" smtClean="0"/>
              <a:t>Nunjucks</a:t>
            </a:r>
            <a:r>
              <a:rPr lang="ru-RU" sz="2400" dirty="0" smtClean="0"/>
              <a:t>, файлами на страницах, технологией предоставления </a:t>
            </a:r>
            <a:r>
              <a:rPr lang="ru-RU" sz="2400" dirty="0" err="1" smtClean="0"/>
              <a:t>веб-страницам</a:t>
            </a:r>
            <a:r>
              <a:rPr lang="ru-RU" sz="2400" dirty="0" smtClean="0"/>
              <a:t> данных с домена.</a:t>
            </a:r>
          </a:p>
          <a:p>
            <a:pPr>
              <a:buNone/>
            </a:pP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12071" y="4099705"/>
            <a:ext cx="6591133" cy="1826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Задание переменных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261408" y="1314091"/>
            <a:ext cx="8970184" cy="2369388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Для работы программы перед началом нужно задать некоторые глобальные переменные. В данном случае мы: </a:t>
            </a:r>
          </a:p>
          <a:p>
            <a:pPr marL="0" indent="0">
              <a:buFont typeface="Wingdings" pitchFamily="2" charset="2"/>
              <a:buChar char="v"/>
            </a:pPr>
            <a:r>
              <a:rPr lang="ru-RU" dirty="0" smtClean="0"/>
              <a:t>Создаём объект </a:t>
            </a:r>
            <a:r>
              <a:rPr lang="en-US" dirty="0" smtClean="0"/>
              <a:t>express</a:t>
            </a:r>
          </a:p>
          <a:p>
            <a:pPr marL="0" indent="0">
              <a:buFont typeface="Wingdings" pitchFamily="2" charset="2"/>
              <a:buChar char="v"/>
            </a:pPr>
            <a:r>
              <a:rPr lang="ru-RU" dirty="0" smtClean="0"/>
              <a:t>Создаём 2 </a:t>
            </a:r>
            <a:r>
              <a:rPr lang="ru-RU" dirty="0" err="1" smtClean="0"/>
              <a:t>парсера</a:t>
            </a:r>
            <a:endParaRPr lang="ru-RU" dirty="0" smtClean="0"/>
          </a:p>
          <a:p>
            <a:pPr marL="0" indent="0">
              <a:buFont typeface="Wingdings" pitchFamily="2" charset="2"/>
              <a:buChar char="v"/>
            </a:pPr>
            <a:r>
              <a:rPr lang="ru-RU" dirty="0" smtClean="0"/>
              <a:t>Подключает базу данных </a:t>
            </a:r>
            <a:r>
              <a:rPr lang="en-US" dirty="0" err="1" smtClean="0"/>
              <a:t>MySQL</a:t>
            </a:r>
            <a:endParaRPr lang="en-US" dirty="0" smtClean="0"/>
          </a:p>
          <a:p>
            <a:pPr marL="0" indent="0">
              <a:buFont typeface="Wingdings" pitchFamily="2" charset="2"/>
              <a:buChar char="v"/>
            </a:pPr>
            <a:r>
              <a:rPr lang="ru-RU" dirty="0" smtClean="0"/>
              <a:t>Создаём переменную для проверки входа в панель </a:t>
            </a:r>
            <a:r>
              <a:rPr lang="ru-RU" dirty="0" err="1" smtClean="0"/>
              <a:t>админитратора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51136" y="3986303"/>
            <a:ext cx="5981700" cy="226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Создание панели администратора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207364" y="2133600"/>
            <a:ext cx="10297248" cy="1075426"/>
          </a:xfrm>
        </p:spPr>
        <p:txBody>
          <a:bodyPr/>
          <a:lstStyle/>
          <a:p>
            <a:pPr indent="0">
              <a:buNone/>
            </a:pPr>
            <a:r>
              <a:rPr lang="ru-RU" dirty="0" smtClean="0"/>
              <a:t>Суть панели в том, чтобы владелец у которого есть логин и пароль от данной панели мог войти в неё и добавлять новые товары и категории этих товаров.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71695" y="3133817"/>
            <a:ext cx="10295830" cy="588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1359088" y="3962001"/>
            <a:ext cx="101890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Сама панель выглядит просто и в ней легко сможет разобраться любой пользователь. </a:t>
            </a:r>
          </a:p>
          <a:p>
            <a:r>
              <a:rPr lang="ru-RU" dirty="0" smtClean="0"/>
              <a:t>В ней есть функции добавления цвета, материала, создателя обуви, типа обуви и размера. Также можно посмотреть список товаров или же добавить новые, по созданным ранее категориям.</a:t>
            </a:r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Функция для </a:t>
            </a:r>
            <a:r>
              <a:rPr lang="en-US" dirty="0" smtClean="0"/>
              <a:t>get</a:t>
            </a:r>
            <a:r>
              <a:rPr lang="ru-RU" dirty="0" smtClean="0"/>
              <a:t> запроса</a:t>
            </a:r>
            <a:r>
              <a:rPr lang="en-US" dirty="0" smtClean="0"/>
              <a:t> </a:t>
            </a:r>
            <a:r>
              <a:rPr lang="ru-RU" dirty="0" smtClean="0"/>
              <a:t>категорий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58159" y="1979313"/>
            <a:ext cx="9134475" cy="320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Функция для </a:t>
            </a:r>
            <a:r>
              <a:rPr lang="en-US" dirty="0" smtClean="0"/>
              <a:t>post</a:t>
            </a:r>
            <a:r>
              <a:rPr lang="ru-RU" dirty="0" smtClean="0"/>
              <a:t> запроса</a:t>
            </a:r>
            <a:r>
              <a:rPr lang="en-US" dirty="0" smtClean="0"/>
              <a:t> </a:t>
            </a:r>
            <a:r>
              <a:rPr lang="ru-RU" dirty="0" smtClean="0"/>
              <a:t>категорий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74394" y="1506658"/>
            <a:ext cx="4121629" cy="5038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</a:t>
            </a:r>
            <a:r>
              <a:rPr lang="en-US" dirty="0" smtClean="0"/>
              <a:t> get</a:t>
            </a:r>
            <a:r>
              <a:rPr lang="ru-RU" dirty="0" smtClean="0"/>
              <a:t> и</a:t>
            </a:r>
            <a:r>
              <a:rPr lang="en-US" dirty="0" smtClean="0"/>
              <a:t> post</a:t>
            </a:r>
            <a:r>
              <a:rPr lang="ru-RU" dirty="0" smtClean="0"/>
              <a:t> запроса категории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7533" y="2608862"/>
            <a:ext cx="11249025" cy="376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работает панель администратора изнутри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Внутри панель администратора состоит из 9 </a:t>
            </a:r>
            <a:r>
              <a:rPr lang="en-US" dirty="0" smtClean="0"/>
              <a:t>get </a:t>
            </a:r>
            <a:r>
              <a:rPr lang="ru-RU" dirty="0" smtClean="0"/>
              <a:t>и 9 </a:t>
            </a:r>
            <a:r>
              <a:rPr lang="en-US" dirty="0" smtClean="0"/>
              <a:t>post </a:t>
            </a:r>
            <a:r>
              <a:rPr lang="ru-RU" dirty="0" smtClean="0"/>
              <a:t>запросов.</a:t>
            </a:r>
          </a:p>
          <a:p>
            <a:pPr marL="0" indent="0">
              <a:buNone/>
            </a:pPr>
            <a:r>
              <a:rPr lang="ru-RU" dirty="0" smtClean="0"/>
              <a:t>Первый отвечает за вход в панель администратора, второй за главную страницу. С третьего по седьмой отвечают за определённые категории товара и их добавление. А восьмой и </a:t>
            </a:r>
            <a:r>
              <a:rPr lang="ru-RU" dirty="0" smtClean="0"/>
              <a:t>девятый </a:t>
            </a:r>
            <a:r>
              <a:rPr lang="ru-RU" dirty="0" smtClean="0"/>
              <a:t>за добавление товара и вывода списка товаров. </a:t>
            </a:r>
          </a:p>
          <a:p>
            <a:pPr marL="0" indent="0">
              <a:buNone/>
            </a:pPr>
            <a:r>
              <a:rPr lang="ru-RU" dirty="0" smtClean="0"/>
              <a:t>В каждом из этих маршрутов есть </a:t>
            </a:r>
            <a:r>
              <a:rPr lang="en-US" dirty="0" smtClean="0"/>
              <a:t>post </a:t>
            </a:r>
            <a:r>
              <a:rPr lang="ru-RU" dirty="0" smtClean="0"/>
              <a:t>и </a:t>
            </a:r>
            <a:r>
              <a:rPr lang="en-US" dirty="0" smtClean="0"/>
              <a:t>get </a:t>
            </a:r>
            <a:r>
              <a:rPr lang="ru-RU" dirty="0" smtClean="0"/>
              <a:t>запросы. </a:t>
            </a:r>
            <a:r>
              <a:rPr lang="en-US" dirty="0" smtClean="0"/>
              <a:t>Post – </a:t>
            </a:r>
            <a:r>
              <a:rPr lang="ru-RU" dirty="0" smtClean="0"/>
              <a:t>отвечают за сбор данных с пользователя и срабатывают, когда поступает какая-либо информация от него. А </a:t>
            </a:r>
            <a:r>
              <a:rPr lang="en-US" dirty="0" smtClean="0"/>
              <a:t>get </a:t>
            </a:r>
            <a:r>
              <a:rPr lang="ru-RU" dirty="0" smtClean="0"/>
              <a:t>срабатывает тогда, когда пользователь зашёл на сайт и отправляет ему саму страницу. </a:t>
            </a:r>
          </a:p>
          <a:p>
            <a:pPr marL="0" indent="0">
              <a:buNone/>
            </a:pPr>
            <a:r>
              <a:rPr lang="ru-RU" dirty="0" smtClean="0"/>
              <a:t>Из-за схожести работы </a:t>
            </a:r>
            <a:r>
              <a:rPr lang="ru-RU" dirty="0" err="1" smtClean="0"/>
              <a:t>роутов</a:t>
            </a:r>
            <a:r>
              <a:rPr lang="ru-RU" dirty="0" smtClean="0"/>
              <a:t> категорий, я сделал для них две функции. Для </a:t>
            </a:r>
            <a:r>
              <a:rPr lang="en-US" dirty="0" smtClean="0"/>
              <a:t>get </a:t>
            </a:r>
            <a:r>
              <a:rPr lang="ru-RU" dirty="0" smtClean="0"/>
              <a:t>и</a:t>
            </a:r>
            <a:r>
              <a:rPr lang="en-US" dirty="0" smtClean="0"/>
              <a:t> post</a:t>
            </a:r>
            <a:r>
              <a:rPr lang="ru-RU" dirty="0" smtClean="0"/>
              <a:t> запросов. Тем самым сильно сократил код.</a:t>
            </a:r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База данных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209650" y="1357222"/>
            <a:ext cx="8915400" cy="2843842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В данном проекте база данных используется для хранения данных пользователя, таких как его логин и пароль, а также содержимого его корзины. Также она используется для хранения товаров, чтобы в будущем отправлять данные фронт серверу. </a:t>
            </a:r>
          </a:p>
          <a:p>
            <a:pPr marL="0" indent="0">
              <a:buNone/>
            </a:pPr>
            <a:r>
              <a:rPr lang="ru-RU" dirty="0" smtClean="0"/>
              <a:t>В нашей работе моя основная цель это брать данные с фронт сервера, делать по этим данным запросы в базу данных и отправлять данные обратно. Или же брать данные, каким-либо образом проверять их и затем отправлять фронт серверу ответ о пройденной или не пройденной проверку.</a:t>
            </a: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05912" y="4125367"/>
            <a:ext cx="2369820" cy="1988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Прямоугольник 4"/>
          <p:cNvSpPr/>
          <p:nvPr/>
        </p:nvSpPr>
        <p:spPr>
          <a:xfrm>
            <a:off x="4807790" y="4132855"/>
            <a:ext cx="617363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 На данном снимке показаны все таблицы, которые использовались в работе. </a:t>
            </a:r>
            <a:r>
              <a:rPr lang="en-US" dirty="0" smtClean="0"/>
              <a:t>Cart</a:t>
            </a:r>
            <a:r>
              <a:rPr lang="ru-RU" dirty="0" smtClean="0"/>
              <a:t> </a:t>
            </a:r>
            <a:r>
              <a:rPr lang="en-US" dirty="0" smtClean="0"/>
              <a:t>– </a:t>
            </a:r>
            <a:r>
              <a:rPr lang="ru-RU" dirty="0" smtClean="0"/>
              <a:t>корзина, </a:t>
            </a:r>
            <a:r>
              <a:rPr lang="en-US" dirty="0" smtClean="0"/>
              <a:t>color –</a:t>
            </a:r>
            <a:r>
              <a:rPr lang="ru-RU" dirty="0" smtClean="0"/>
              <a:t> список</a:t>
            </a:r>
            <a:r>
              <a:rPr lang="en-US" dirty="0" smtClean="0"/>
              <a:t> </a:t>
            </a:r>
            <a:r>
              <a:rPr lang="ru-RU" dirty="0" smtClean="0"/>
              <a:t>всех цветов</a:t>
            </a:r>
            <a:r>
              <a:rPr lang="en-US" dirty="0" smtClean="0"/>
              <a:t>, creator – </a:t>
            </a:r>
            <a:r>
              <a:rPr lang="ru-RU" dirty="0" smtClean="0"/>
              <a:t>список создателей</a:t>
            </a:r>
            <a:r>
              <a:rPr lang="en-US" dirty="0" smtClean="0"/>
              <a:t>, items – </a:t>
            </a:r>
            <a:r>
              <a:rPr lang="ru-RU" dirty="0" smtClean="0"/>
              <a:t>список всех товаров с их данными</a:t>
            </a:r>
            <a:r>
              <a:rPr lang="en-US" dirty="0" smtClean="0"/>
              <a:t>, material - </a:t>
            </a:r>
            <a:r>
              <a:rPr lang="ru-RU" dirty="0" smtClean="0"/>
              <a:t>материалы</a:t>
            </a:r>
            <a:r>
              <a:rPr lang="en-US" dirty="0" smtClean="0"/>
              <a:t>, size - </a:t>
            </a:r>
            <a:r>
              <a:rPr lang="ru-RU" dirty="0" smtClean="0"/>
              <a:t>размеры</a:t>
            </a:r>
            <a:r>
              <a:rPr lang="en-US" dirty="0" smtClean="0"/>
              <a:t>, type - </a:t>
            </a:r>
            <a:r>
              <a:rPr lang="ru-RU" dirty="0" smtClean="0"/>
              <a:t>типы</a:t>
            </a:r>
            <a:r>
              <a:rPr lang="en-US" dirty="0" smtClean="0"/>
              <a:t>, user – </a:t>
            </a:r>
            <a:r>
              <a:rPr lang="ru-RU" dirty="0" smtClean="0"/>
              <a:t>список пользователей.</a:t>
            </a:r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/>
              <a:t>Отправка и принятие данных от </a:t>
            </a:r>
            <a:r>
              <a:rPr lang="en-US" sz="3200" dirty="0" smtClean="0"/>
              <a:t>frontend </a:t>
            </a:r>
            <a:r>
              <a:rPr lang="ru-RU" sz="3200" dirty="0" smtClean="0"/>
              <a:t>сервера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39659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В следующих строках кода я делал основную работу, а именно работал с данными, которые получаю от фронт сервера. Таким образом были сделаны следующие функции: </a:t>
            </a:r>
          </a:p>
          <a:p>
            <a:pPr>
              <a:buFont typeface="Wingdings" pitchFamily="2" charset="2"/>
              <a:buChar char="§"/>
            </a:pPr>
            <a:r>
              <a:rPr lang="ru-RU" dirty="0" smtClean="0"/>
              <a:t>Отправка всех товаров, для вывода их на страницу</a:t>
            </a:r>
          </a:p>
          <a:p>
            <a:pPr>
              <a:buFont typeface="Wingdings" pitchFamily="2" charset="2"/>
              <a:buChar char="§"/>
            </a:pPr>
            <a:r>
              <a:rPr lang="ru-RU" dirty="0" smtClean="0"/>
              <a:t>Отправка всех категорий для сортировки товаров</a:t>
            </a:r>
          </a:p>
          <a:p>
            <a:pPr>
              <a:buFont typeface="Wingdings" pitchFamily="2" charset="2"/>
              <a:buChar char="§"/>
            </a:pPr>
            <a:r>
              <a:rPr lang="ru-RU" dirty="0" smtClean="0"/>
              <a:t>Регистрация и вход в </a:t>
            </a:r>
            <a:r>
              <a:rPr lang="ru-RU" dirty="0" err="1" smtClean="0"/>
              <a:t>аккаунт</a:t>
            </a:r>
            <a:endParaRPr lang="ru-RU" dirty="0" smtClean="0"/>
          </a:p>
          <a:p>
            <a:pPr>
              <a:buFont typeface="Wingdings" pitchFamily="2" charset="2"/>
              <a:buChar char="§"/>
            </a:pPr>
            <a:r>
              <a:rPr lang="ru-RU" dirty="0" smtClean="0"/>
              <a:t>Получение корзины конкретного пользователя и отправки её фонт серверу</a:t>
            </a:r>
          </a:p>
          <a:p>
            <a:pPr>
              <a:buFont typeface="Wingdings" pitchFamily="2" charset="2"/>
              <a:buChar char="§"/>
            </a:pPr>
            <a:r>
              <a:rPr lang="ru-RU" dirty="0" smtClean="0"/>
              <a:t>Удаление элемента из корзины и возвращение фронт серверу новой корзины без удалённого элемента</a:t>
            </a:r>
          </a:p>
          <a:p>
            <a:pPr>
              <a:buFont typeface="Wingdings" pitchFamily="2" charset="2"/>
              <a:buChar char="§"/>
            </a:pPr>
            <a:r>
              <a:rPr lang="ru-RU" dirty="0" smtClean="0"/>
              <a:t>Получение конкретного товара, для вывода его на отдельную страницу этого товара</a:t>
            </a:r>
          </a:p>
          <a:p>
            <a:pPr>
              <a:buFont typeface="Wingdings" pitchFamily="2" charset="2"/>
              <a:buChar char="§"/>
            </a:pPr>
            <a:r>
              <a:rPr lang="ru-RU" dirty="0" smtClean="0"/>
              <a:t>Добавление товара в корзину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97476" y="138602"/>
            <a:ext cx="3524436" cy="731410"/>
          </a:xfrm>
        </p:spPr>
        <p:txBody>
          <a:bodyPr/>
          <a:lstStyle/>
          <a:p>
            <a:r>
              <a:rPr lang="ru-RU" dirty="0" smtClean="0"/>
              <a:t>Регистрация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1191" y="1088486"/>
            <a:ext cx="4184650" cy="542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66556" y="1127463"/>
            <a:ext cx="4856405" cy="3815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7938116" y="157838"/>
            <a:ext cx="2004874" cy="7314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Логин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89537604212\Downloads\Telegram Desktop\image_2023-05-31_17-02-55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92754" y="2003164"/>
            <a:ext cx="8593615" cy="4135677"/>
          </a:xfrm>
          <a:prstGeom prst="rect">
            <a:avLst/>
          </a:prstGeom>
          <a:noFill/>
        </p:spPr>
      </p:pic>
      <p:sp>
        <p:nvSpPr>
          <p:cNvPr id="6" name="Прямоугольник 5"/>
          <p:cNvSpPr/>
          <p:nvPr/>
        </p:nvSpPr>
        <p:spPr>
          <a:xfrm>
            <a:off x="1623487" y="630531"/>
            <a:ext cx="89098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/>
              <a:t>Страница входа со стороны пользователя</a:t>
            </a:r>
            <a:endParaRPr lang="ru-RU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25947" y="546473"/>
            <a:ext cx="7643004" cy="1308206"/>
          </a:xfrm>
        </p:spPr>
        <p:txBody>
          <a:bodyPr>
            <a:normAutofit/>
          </a:bodyPr>
          <a:lstStyle/>
          <a:p>
            <a:r>
              <a:rPr lang="ru-RU" dirty="0" smtClean="0"/>
              <a:t>Получение корзины определённого пользователя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08695" y="2501212"/>
            <a:ext cx="8335992" cy="3815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24023" y="244547"/>
            <a:ext cx="7988060" cy="1722275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Удаление товара из корзины пользователя и возвращение новой корзины на фронт сервер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85460" y="2091666"/>
            <a:ext cx="7021182" cy="4319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корзины со стороны пользователя</a:t>
            </a:r>
            <a:endParaRPr lang="ru-RU" dirty="0"/>
          </a:p>
        </p:txBody>
      </p:sp>
      <p:pic>
        <p:nvPicPr>
          <p:cNvPr id="2050" name="Picture 2" descr="C:\Users\89537604212\Downloads\Telegram Desktop\Снимок экрана (1590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89225" y="2064263"/>
            <a:ext cx="8945552" cy="413265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0831" y="641363"/>
            <a:ext cx="5003320" cy="1280890"/>
          </a:xfrm>
        </p:spPr>
        <p:txBody>
          <a:bodyPr/>
          <a:lstStyle/>
          <a:p>
            <a:r>
              <a:rPr lang="ru-RU" dirty="0" smtClean="0"/>
              <a:t>Получение данных о конкретном товаре</a:t>
            </a: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61961" y="2176551"/>
            <a:ext cx="4910320" cy="1964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03777" y="2099993"/>
            <a:ext cx="4995140" cy="2825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6354793" y="586729"/>
            <a:ext cx="539151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Добавление</a:t>
            </a:r>
            <a:r>
              <a:rPr kumimoji="0" lang="ru-RU" sz="3600" b="0" i="0" u="none" strike="noStrike" kern="1200" cap="none" spc="0" normalizeH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товара в корзину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страницы конкретного товара</a:t>
            </a:r>
            <a:endParaRPr lang="ru-RU" dirty="0"/>
          </a:p>
        </p:txBody>
      </p:sp>
      <p:pic>
        <p:nvPicPr>
          <p:cNvPr id="3075" name="Picture 3" descr="C:\Users\89537604212\Downloads\Telegram Desktop\Снимок экрана (1592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99515" y="2002138"/>
            <a:ext cx="9037188" cy="41796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Запуск проекта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40638" y="1926567"/>
            <a:ext cx="8055784" cy="17224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 smtClean="0"/>
              <a:t>В конце программы запускаем её с портом 3000.</a:t>
            </a:r>
            <a:endParaRPr lang="ru-RU" sz="3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4896" y="4320847"/>
            <a:ext cx="6018560" cy="1579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80314" y="322187"/>
            <a:ext cx="6131106" cy="1280890"/>
          </a:xfrm>
        </p:spPr>
        <p:txBody>
          <a:bodyPr/>
          <a:lstStyle/>
          <a:p>
            <a:r>
              <a:rPr lang="ru-RU" dirty="0" smtClean="0"/>
              <a:t>Главная страница</a:t>
            </a:r>
            <a:endParaRPr lang="ru-RU" dirty="0"/>
          </a:p>
        </p:txBody>
      </p:sp>
      <p:pic>
        <p:nvPicPr>
          <p:cNvPr id="4098" name="Picture 2" descr="C:\Users\89537604212\Downloads\Telegram Desktop\Снимок экрана (1579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13804" y="1794531"/>
            <a:ext cx="8410753" cy="441421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Страница сортировки товаров</a:t>
            </a:r>
            <a:endParaRPr lang="ru-RU" dirty="0"/>
          </a:p>
        </p:txBody>
      </p:sp>
      <p:pic>
        <p:nvPicPr>
          <p:cNvPr id="5122" name="Picture 2" descr="C:\Users\89537604212\Downloads\Telegram Desktop\image_2023-05-31_17-13-46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78380" y="2134476"/>
            <a:ext cx="8395902" cy="382625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B05674E-2494-4E99-95FA-5CBD510A9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12BEB7E0-049E-436D-A9D3-4E4CF569B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3541" y="1904999"/>
            <a:ext cx="10211071" cy="45627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800" dirty="0" smtClean="0"/>
              <a:t>В заключении хочу сказать, что я доволен проделанной мной работой. В ходе создания программы я достиг своей цели, а именно создал </a:t>
            </a:r>
            <a:r>
              <a:rPr lang="en-US" sz="2800" dirty="0" smtClean="0"/>
              <a:t>CMS </a:t>
            </a:r>
            <a:r>
              <a:rPr lang="ru-RU" sz="2800" dirty="0" smtClean="0"/>
              <a:t>и </a:t>
            </a:r>
            <a:r>
              <a:rPr lang="en-US" sz="2800" dirty="0" smtClean="0"/>
              <a:t>API </a:t>
            </a:r>
            <a:r>
              <a:rPr lang="ru-RU" sz="2800" dirty="0" smtClean="0"/>
              <a:t>для магазина обуви. На пути достижения цели я выполнил все небольшие задачи, за счёт чего научился: создавать </a:t>
            </a:r>
            <a:r>
              <a:rPr lang="en-US" sz="2800" dirty="0" smtClean="0"/>
              <a:t>CMS</a:t>
            </a:r>
            <a:r>
              <a:rPr lang="ru-RU" sz="2800" dirty="0" smtClean="0"/>
              <a:t>, </a:t>
            </a:r>
            <a:r>
              <a:rPr lang="en-US" sz="2800" dirty="0" smtClean="0"/>
              <a:t>API</a:t>
            </a:r>
            <a:r>
              <a:rPr lang="ru-RU" sz="2800" dirty="0" smtClean="0"/>
              <a:t>, </a:t>
            </a:r>
            <a:r>
              <a:rPr lang="ru-RU" sz="2800" dirty="0" err="1" smtClean="0"/>
              <a:t>бэкенд</a:t>
            </a:r>
            <a:r>
              <a:rPr lang="ru-RU" sz="2800" dirty="0" smtClean="0"/>
              <a:t> сервер; передавать данные на фронт сервер. Также я отточил свои знания в области работы с базами данных </a:t>
            </a:r>
            <a:r>
              <a:rPr lang="en-US" sz="2800" dirty="0" err="1" smtClean="0"/>
              <a:t>mysql</a:t>
            </a:r>
            <a:r>
              <a:rPr lang="ru-RU" sz="2800" dirty="0" smtClean="0"/>
              <a:t>, в области </a:t>
            </a:r>
            <a:r>
              <a:rPr lang="en-US" sz="2800" dirty="0" smtClean="0"/>
              <a:t>Node</a:t>
            </a:r>
            <a:r>
              <a:rPr lang="ru-RU" sz="2800" dirty="0" smtClean="0"/>
              <a:t>.</a:t>
            </a:r>
            <a:r>
              <a:rPr lang="en-US" sz="2800" dirty="0" err="1" smtClean="0"/>
              <a:t>js</a:t>
            </a:r>
            <a:r>
              <a:rPr lang="ru-RU" sz="2800" dirty="0" smtClean="0"/>
              <a:t>, его </a:t>
            </a:r>
            <a:r>
              <a:rPr lang="ru-RU" sz="2800" dirty="0" err="1" smtClean="0"/>
              <a:t>фреймворка</a:t>
            </a:r>
            <a:r>
              <a:rPr lang="ru-RU" sz="2800" dirty="0" smtClean="0"/>
              <a:t> </a:t>
            </a:r>
            <a:r>
              <a:rPr lang="en-US" sz="2800" dirty="0" smtClean="0"/>
              <a:t>express </a:t>
            </a:r>
            <a:r>
              <a:rPr lang="ru-RU" sz="2800" dirty="0" smtClean="0"/>
              <a:t>и </a:t>
            </a:r>
            <a:r>
              <a:rPr lang="ru-RU" sz="2800" dirty="0" err="1" smtClean="0"/>
              <a:t>шаблонизатора</a:t>
            </a:r>
            <a:r>
              <a:rPr lang="ru-RU" sz="2800" dirty="0" smtClean="0"/>
              <a:t> </a:t>
            </a:r>
            <a:r>
              <a:rPr lang="en-US" sz="2800" dirty="0" err="1" smtClean="0"/>
              <a:t>nunjucks</a:t>
            </a:r>
            <a:r>
              <a:rPr lang="ru-RU" sz="2800" dirty="0" smtClean="0"/>
              <a:t>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xmlns="" val="30862418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4217E1D-419C-493E-9AD7-D6E69B383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литературы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A86EDEB9-6ACE-4636-B704-77D4C4787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 данной работе использовалось устройство с данными характеристиками: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Процессор – 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AMD Ryzen</a:t>
            </a:r>
            <a:r>
              <a:rPr lang="ru-RU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5 3550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ru-RU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оперативная память – 8 ГБ, видеокарта - NVIDIA </a:t>
            </a:r>
            <a:r>
              <a:rPr lang="ru-RU" sz="2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GeForce</a:t>
            </a:r>
            <a:r>
              <a:rPr lang="ru-RU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GTX 1650 4 ГБ видеопамяти. </a:t>
            </a:r>
            <a:endParaRPr lang="ru-RU" sz="2000" dirty="0" smtClean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ru-RU" sz="2000" dirty="0" smtClean="0"/>
              <a:t>Учебник по </a:t>
            </a:r>
            <a:r>
              <a:rPr lang="en-US" sz="2000" dirty="0" smtClean="0"/>
              <a:t>Node</a:t>
            </a:r>
            <a:r>
              <a:rPr lang="ru-RU" sz="2000" dirty="0" smtClean="0"/>
              <a:t>.</a:t>
            </a:r>
            <a:r>
              <a:rPr lang="en-US" sz="2000" dirty="0" err="1" smtClean="0"/>
              <a:t>js</a:t>
            </a:r>
            <a:r>
              <a:rPr lang="ru-RU" sz="2000" dirty="0" smtClean="0"/>
              <a:t>(</a:t>
            </a:r>
            <a:r>
              <a:rPr lang="en-US" sz="2000" u="sng" dirty="0" smtClean="0">
                <a:hlinkClick r:id="rId2"/>
              </a:rPr>
              <a:t>https</a:t>
            </a:r>
            <a:r>
              <a:rPr lang="ru-RU" sz="2000" u="sng" dirty="0" smtClean="0">
                <a:hlinkClick r:id="rId2"/>
              </a:rPr>
              <a:t>://</a:t>
            </a:r>
            <a:r>
              <a:rPr lang="en-US" sz="2000" u="sng" dirty="0" smtClean="0">
                <a:hlinkClick r:id="rId2"/>
              </a:rPr>
              <a:t>code</a:t>
            </a:r>
            <a:r>
              <a:rPr lang="ru-RU" sz="2000" u="sng" dirty="0" smtClean="0">
                <a:hlinkClick r:id="rId2"/>
              </a:rPr>
              <a:t>.</a:t>
            </a:r>
            <a:r>
              <a:rPr lang="en-US" sz="2000" u="sng" dirty="0" smtClean="0">
                <a:hlinkClick r:id="rId2"/>
              </a:rPr>
              <a:t>mu</a:t>
            </a:r>
            <a:r>
              <a:rPr lang="ru-RU" sz="2000" u="sng" dirty="0" smtClean="0">
                <a:hlinkClick r:id="rId2"/>
              </a:rPr>
              <a:t>/</a:t>
            </a:r>
            <a:r>
              <a:rPr lang="ru-RU" sz="2000" dirty="0" smtClean="0"/>
              <a:t>)</a:t>
            </a:r>
          </a:p>
          <a:p>
            <a:pPr lvl="0"/>
            <a:r>
              <a:rPr lang="ru-RU" sz="2000" dirty="0" smtClean="0"/>
              <a:t>Учебник по </a:t>
            </a:r>
            <a:r>
              <a:rPr lang="en-US" sz="2000" dirty="0" smtClean="0"/>
              <a:t>Express</a:t>
            </a:r>
            <a:r>
              <a:rPr lang="ru-RU" sz="2000" dirty="0" smtClean="0"/>
              <a:t>(</a:t>
            </a:r>
            <a:r>
              <a:rPr lang="en-US" sz="2000" u="sng" dirty="0" smtClean="0">
                <a:hlinkClick r:id="rId2"/>
              </a:rPr>
              <a:t>https</a:t>
            </a:r>
            <a:r>
              <a:rPr lang="ru-RU" sz="2000" u="sng" dirty="0" smtClean="0">
                <a:hlinkClick r:id="rId2"/>
              </a:rPr>
              <a:t>://</a:t>
            </a:r>
            <a:r>
              <a:rPr lang="en-US" sz="2000" u="sng" dirty="0" smtClean="0">
                <a:hlinkClick r:id="rId2"/>
              </a:rPr>
              <a:t>code</a:t>
            </a:r>
            <a:r>
              <a:rPr lang="ru-RU" sz="2000" u="sng" dirty="0" smtClean="0">
                <a:hlinkClick r:id="rId2"/>
              </a:rPr>
              <a:t>.</a:t>
            </a:r>
            <a:r>
              <a:rPr lang="en-US" sz="2000" u="sng" dirty="0" smtClean="0">
                <a:hlinkClick r:id="rId2"/>
              </a:rPr>
              <a:t>mu</a:t>
            </a:r>
            <a:r>
              <a:rPr lang="ru-RU" sz="2000" u="sng" dirty="0" smtClean="0">
                <a:hlinkClick r:id="rId2"/>
              </a:rPr>
              <a:t>/</a:t>
            </a:r>
            <a:r>
              <a:rPr lang="ru-RU" sz="2000" dirty="0" smtClean="0"/>
              <a:t>)</a:t>
            </a:r>
          </a:p>
          <a:p>
            <a:pPr lvl="0"/>
            <a:r>
              <a:rPr lang="ru-RU" sz="2000" dirty="0" smtClean="0"/>
              <a:t>Учебник по </a:t>
            </a:r>
            <a:r>
              <a:rPr lang="en-US" sz="2000" dirty="0" smtClean="0"/>
              <a:t>SQL </a:t>
            </a:r>
            <a:r>
              <a:rPr lang="ru-RU" sz="2000" dirty="0" smtClean="0"/>
              <a:t>запросам(</a:t>
            </a:r>
            <a:r>
              <a:rPr lang="ru-RU" sz="2000" u="sng" dirty="0" smtClean="0">
                <a:hlinkClick r:id="rId3"/>
              </a:rPr>
              <a:t>https://sql-academy.org/ru</a:t>
            </a:r>
            <a:r>
              <a:rPr lang="ru-RU" sz="2000" dirty="0" smtClean="0"/>
              <a:t>)</a:t>
            </a:r>
          </a:p>
          <a:p>
            <a:pPr lvl="0"/>
            <a:r>
              <a:rPr lang="ru-RU" sz="2000" dirty="0" smtClean="0"/>
              <a:t>Документация по </a:t>
            </a:r>
            <a:r>
              <a:rPr lang="en-US" sz="2000" dirty="0" err="1" smtClean="0"/>
              <a:t>nunjucks</a:t>
            </a:r>
            <a:r>
              <a:rPr lang="ru-RU" sz="2000" dirty="0" smtClean="0"/>
              <a:t> (</a:t>
            </a:r>
            <a:r>
              <a:rPr lang="en-US" sz="2000" u="sng" dirty="0" smtClean="0">
                <a:hlinkClick r:id="rId4"/>
              </a:rPr>
              <a:t>https</a:t>
            </a:r>
            <a:r>
              <a:rPr lang="ru-RU" sz="2000" u="sng" dirty="0" smtClean="0">
                <a:hlinkClick r:id="rId4"/>
              </a:rPr>
              <a:t>://</a:t>
            </a:r>
            <a:r>
              <a:rPr lang="en-US" sz="2000" u="sng" dirty="0" err="1" smtClean="0">
                <a:hlinkClick r:id="rId4"/>
              </a:rPr>
              <a:t>mozilla</a:t>
            </a:r>
            <a:r>
              <a:rPr lang="ru-RU" sz="2000" u="sng" dirty="0" smtClean="0">
                <a:hlinkClick r:id="rId4"/>
              </a:rPr>
              <a:t>.</a:t>
            </a:r>
            <a:r>
              <a:rPr lang="en-US" sz="2000" u="sng" dirty="0" err="1" smtClean="0">
                <a:hlinkClick r:id="rId4"/>
              </a:rPr>
              <a:t>github</a:t>
            </a:r>
            <a:r>
              <a:rPr lang="ru-RU" sz="2000" u="sng" dirty="0" smtClean="0">
                <a:hlinkClick r:id="rId4"/>
              </a:rPr>
              <a:t>.</a:t>
            </a:r>
            <a:r>
              <a:rPr lang="en-US" sz="2000" u="sng" dirty="0" err="1" smtClean="0">
                <a:hlinkClick r:id="rId4"/>
              </a:rPr>
              <a:t>io</a:t>
            </a:r>
            <a:r>
              <a:rPr lang="ru-RU" sz="2000" u="sng" dirty="0" smtClean="0">
                <a:hlinkClick r:id="rId4"/>
              </a:rPr>
              <a:t>/</a:t>
            </a:r>
            <a:r>
              <a:rPr lang="en-US" sz="2000" u="sng" dirty="0" err="1" smtClean="0">
                <a:hlinkClick r:id="rId4"/>
              </a:rPr>
              <a:t>nunjucks</a:t>
            </a:r>
            <a:r>
              <a:rPr lang="ru-RU" sz="2000" u="sng" dirty="0" smtClean="0">
                <a:hlinkClick r:id="rId4"/>
              </a:rPr>
              <a:t>/</a:t>
            </a:r>
            <a:r>
              <a:rPr lang="ru-RU" sz="2000" dirty="0" smtClean="0"/>
              <a:t>)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ru-R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870847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88D78EB-C0B3-4A10-93E4-1DED56C59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2788555"/>
            <a:ext cx="8911687" cy="1280890"/>
          </a:xfrm>
        </p:spPr>
        <p:txBody>
          <a:bodyPr/>
          <a:lstStyle/>
          <a:p>
            <a:pPr algn="ctr"/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xmlns="" val="25640171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309</TotalTime>
  <Words>1061</Words>
  <Application>Microsoft Office PowerPoint</Application>
  <PresentationFormat>Произвольный</PresentationFormat>
  <Paragraphs>79</Paragraphs>
  <Slides>27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28" baseType="lpstr">
      <vt:lpstr>Легкий дым</vt:lpstr>
      <vt:lpstr>ДИПЛОМНАЯ РАБОТА </vt:lpstr>
      <vt:lpstr>Оглавление</vt:lpstr>
      <vt:lpstr>Введение</vt:lpstr>
      <vt:lpstr>Установка нужных компонентов</vt:lpstr>
      <vt:lpstr>Какие компоненты отвечают за определённые функции программы</vt:lpstr>
      <vt:lpstr>Импорт библиотек</vt:lpstr>
      <vt:lpstr>Задание переменных</vt:lpstr>
      <vt:lpstr>Создание панели администратора</vt:lpstr>
      <vt:lpstr>Функция для get запроса категорий</vt:lpstr>
      <vt:lpstr>Функция для post запроса категорий</vt:lpstr>
      <vt:lpstr>Пример get и post запроса категории</vt:lpstr>
      <vt:lpstr>Как работает панель администратора изнутри</vt:lpstr>
      <vt:lpstr>База данных</vt:lpstr>
      <vt:lpstr>Отправка и принятие данных от frontend сервера</vt:lpstr>
      <vt:lpstr>Регистрация</vt:lpstr>
      <vt:lpstr>Слайд 16</vt:lpstr>
      <vt:lpstr>Получение корзины определённого пользователя</vt:lpstr>
      <vt:lpstr>Удаление товара из корзины пользователя и возвращение новой корзины на фронт сервер</vt:lpstr>
      <vt:lpstr>Пример корзины со стороны пользователя</vt:lpstr>
      <vt:lpstr>Получение данных о конкретном товаре</vt:lpstr>
      <vt:lpstr>Пример страницы конкретного товара</vt:lpstr>
      <vt:lpstr>Запуск проекта</vt:lpstr>
      <vt:lpstr>Главная страница</vt:lpstr>
      <vt:lpstr>Страница сортировки товаров</vt:lpstr>
      <vt:lpstr>Вывод</vt:lpstr>
      <vt:lpstr>Список литературы</vt:lpstr>
      <vt:lpstr>Спасибо за внимание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«Создание программы для вычисления простейших алгебраических задач»</dc:title>
  <dc:creator>user</dc:creator>
  <cp:lastModifiedBy>89537604212</cp:lastModifiedBy>
  <cp:revision>32</cp:revision>
  <dcterms:created xsi:type="dcterms:W3CDTF">2022-05-30T11:48:41Z</dcterms:created>
  <dcterms:modified xsi:type="dcterms:W3CDTF">2024-01-26T06:05:24Z</dcterms:modified>
</cp:coreProperties>
</file>